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C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C2140"/>
                </a:solidFill>
                <a:latin typeface="Calibri"/>
              </a:rPr>
              <a:t>From Climate Signals to Action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78828C"/>
                </a:solidFill>
                <a:latin typeface="Calibri"/>
              </a:rPr>
              <a:t>Identify local risks and prioritise practical actions (5‑minute pitch)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19695" y="1005840"/>
            <a:ext cx="3931920" cy="2926080"/>
          </a:xfrm>
          <a:prstGeom prst="rect">
            <a:avLst/>
          </a:prstGeom>
          <a:solidFill>
            <a:srgbClr val="EBF0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Cover visual</a:t>
            </a:r>
          </a:p>
          <a:p>
            <a:r>
              <a:t>(autogenerated)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C2140"/>
                </a:solidFill>
                <a:latin typeface="Calibri"/>
              </a:rP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Impacts are local, but information is fragmented and technical</a:t>
            </a:r>
          </a:p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People need: “What should I do, here, first?”</a:t>
            </a:r>
          </a:p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Without prioritisation: late reactions and misallocated budgets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C2140"/>
                </a:solidFill>
                <a:latin typeface="Calibri"/>
              </a:rPr>
              <a:t>How we identify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Translate climate data into five hazard signals: heat, flood, wildfire, drought, coastal storm</a:t>
            </a:r>
          </a:p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Combine with exposure and vulnerability (sensitivity + adaptive capacity)</a:t>
            </a:r>
          </a:p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Explain the drivers so the response is targeted (not generic advice)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C2140"/>
                </a:solidFill>
                <a:latin typeface="Calibri"/>
              </a:rPr>
              <a:t>Same Hazard ≠ Same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78828C"/>
                </a:solidFill>
                <a:latin typeface="Calibri"/>
              </a:rPr>
              <a:t>Three profiles. Same heat hazard level. Very different risk.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887" y="1737360"/>
            <a:ext cx="3291840" cy="4023360"/>
          </a:xfrm>
          <a:prstGeom prst="rect">
            <a:avLst/>
          </a:prstGeom>
          <a:solidFill>
            <a:srgbClr val="F5F8FC"/>
          </a:solidFill>
          <a:ln w="508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207" y="19659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2140"/>
                </a:solidFill>
                <a:latin typeface="Calibri"/>
              </a:rPr>
              <a:t>Senior with respiratory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207" y="27432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78828C"/>
                </a:solidFill>
              </a:defRPr>
            </a:pPr>
            <a:r>
              <a:t>• High vulnerability</a:t>
            </a:r>
          </a:p>
          <a:p>
            <a:pPr>
              <a:spcAft>
                <a:spcPts val="600"/>
              </a:spcAft>
              <a:defRPr sz="1300">
                <a:solidFill>
                  <a:srgbClr val="78828C"/>
                </a:solidFill>
              </a:defRPr>
            </a:pPr>
            <a:r>
              <a:t>• Low adaptive capacity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647" y="4572000"/>
            <a:ext cx="2560320" cy="411480"/>
          </a:xfrm>
          <a:prstGeom prst="rect">
            <a:avLst/>
          </a:prstGeom>
          <a:solidFill>
            <a:srgbClr val="E6EBF0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6647" y="4633722"/>
            <a:ext cx="2560320" cy="349758"/>
          </a:xfrm>
          <a:prstGeom prst="rect">
            <a:avLst/>
          </a:prstGeom>
          <a:solidFill>
            <a:srgbClr val="C83C3C"/>
          </a:solidFill>
          <a:ln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647" y="51206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3C3C"/>
                </a:solidFill>
                <a:latin typeface="Calibri"/>
              </a:rPr>
              <a:t>Risk: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9927" y="1737360"/>
            <a:ext cx="3291840" cy="4023360"/>
          </a:xfrm>
          <a:prstGeom prst="rect">
            <a:avLst/>
          </a:prstGeom>
          <a:solidFill>
            <a:srgbClr val="F5F8FC"/>
          </a:solidFill>
          <a:ln w="50800">
            <a:solidFill>
              <a:srgbClr val="28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247" y="19659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2140"/>
                </a:solidFill>
                <a:latin typeface="Calibri"/>
              </a:rPr>
              <a:t>Young family in shaded 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247" y="27432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78828C"/>
                </a:solidFill>
              </a:defRPr>
            </a:pPr>
            <a:r>
              <a:t>• Medium vulnerability</a:t>
            </a:r>
          </a:p>
          <a:p>
            <a:pPr>
              <a:spcAft>
                <a:spcPts val="600"/>
              </a:spcAft>
              <a:defRPr sz="1300">
                <a:solidFill>
                  <a:srgbClr val="78828C"/>
                </a:solidFill>
              </a:defRPr>
            </a:pPr>
            <a:r>
              <a:t>• Good adaptive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5687" y="4572000"/>
            <a:ext cx="2560320" cy="411480"/>
          </a:xfrm>
          <a:prstGeom prst="rect">
            <a:avLst/>
          </a:prstGeom>
          <a:solidFill>
            <a:srgbClr val="E6EBF0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15687" y="4798314"/>
            <a:ext cx="2560320" cy="185166"/>
          </a:xfrm>
          <a:prstGeom prst="rect">
            <a:avLst/>
          </a:prstGeom>
          <a:solidFill>
            <a:srgbClr val="288C50"/>
          </a:solidFill>
          <a:ln>
            <a:solidFill>
              <a:srgbClr val="28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5687" y="51206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88C50"/>
                </a:solidFill>
                <a:latin typeface="Calibri"/>
              </a:rPr>
              <a:t>Risk: 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8967" y="1737360"/>
            <a:ext cx="3291840" cy="4023360"/>
          </a:xfrm>
          <a:prstGeom prst="rect">
            <a:avLst/>
          </a:prstGeom>
          <a:solidFill>
            <a:srgbClr val="F5F8FC"/>
          </a:solidFill>
          <a:ln w="50800"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3287" y="19659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2140"/>
                </a:solidFill>
                <a:latin typeface="Calibri"/>
              </a:rPr>
              <a:t>Small business, poor drainage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3287" y="27432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78828C"/>
                </a:solidFill>
              </a:defRPr>
            </a:pPr>
            <a:r>
              <a:t>• High exposure</a:t>
            </a:r>
          </a:p>
          <a:p>
            <a:pPr>
              <a:spcAft>
                <a:spcPts val="600"/>
              </a:spcAft>
              <a:defRPr sz="1300">
                <a:solidFill>
                  <a:srgbClr val="78828C"/>
                </a:solidFill>
              </a:defRPr>
            </a:pPr>
            <a:r>
              <a:t>• Low preparedness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64727" y="4572000"/>
            <a:ext cx="2560320" cy="411480"/>
          </a:xfrm>
          <a:prstGeom prst="rect">
            <a:avLst/>
          </a:prstGeom>
          <a:solidFill>
            <a:srgbClr val="E6EBF0"/>
          </a:solidFill>
          <a:ln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64727" y="4646067"/>
            <a:ext cx="2560320" cy="337413"/>
          </a:xfrm>
          <a:prstGeom prst="rect">
            <a:avLst/>
          </a:prstGeom>
          <a:solidFill>
            <a:srgbClr val="C83C3C"/>
          </a:solidFill>
          <a:ln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4727" y="51206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3C3C"/>
                </a:solidFill>
                <a:latin typeface="Calibri"/>
              </a:rPr>
              <a:t>Risk: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C2140"/>
                </a:solidFill>
              </a:defRPr>
            </a:pPr>
            <a:r>
              <a:t>Our tool combines Hazard × Exposure × Vulnerability to give personalised risk — not just generic hazard maps.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C2140"/>
                </a:solidFill>
                <a:latin typeface="Calibri"/>
              </a:rPr>
              <a:t>Actions to be taken (no‑regret first)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406908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45920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Calibri"/>
              </a:rPr>
              <a:t>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3429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C2140"/>
                </a:solidFill>
              </a:defRPr>
            </a:pPr>
            <a:r>
              <a:t>Heat alert checklist</a:t>
            </a:r>
          </a:p>
          <a:p>
            <a:pPr>
              <a:defRPr sz="1600">
                <a:solidFill>
                  <a:srgbClr val="0C2140"/>
                </a:solidFill>
              </a:defRPr>
            </a:pPr>
            <a:r>
              <a:t>Shade + ventilation</a:t>
            </a:r>
          </a:p>
          <a:p>
            <a:pPr>
              <a:defRPr sz="1600">
                <a:solidFill>
                  <a:srgbClr val="0C2140"/>
                </a:solidFill>
              </a:defRPr>
            </a:pPr>
            <a:r>
              <a:t>Cool roofs / retrofits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0" y="1417320"/>
            <a:ext cx="406908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1645920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Calibri"/>
              </a:rPr>
              <a:t>Flood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103120"/>
            <a:ext cx="3429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C2140"/>
                </a:solidFill>
              </a:defRPr>
            </a:pPr>
            <a:r>
              <a:t>Clear drains &amp; gutters</a:t>
            </a:r>
          </a:p>
          <a:p>
            <a:pPr>
              <a:defRPr sz="1600">
                <a:solidFill>
                  <a:srgbClr val="0C2140"/>
                </a:solidFill>
              </a:defRPr>
            </a:pPr>
            <a:r>
              <a:t>Backflow + barriers</a:t>
            </a:r>
          </a:p>
          <a:p>
            <a:pPr>
              <a:defRPr sz="1600">
                <a:solidFill>
                  <a:srgbClr val="0C2140"/>
                </a:solidFill>
              </a:defRPr>
            </a:pPr>
            <a:r>
              <a:t>Drainage upgrades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406908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60520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Calibri"/>
              </a:rPr>
              <a:t>Wildfire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17720"/>
            <a:ext cx="3429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C2140"/>
                </a:solidFill>
              </a:defRPr>
            </a:pPr>
            <a:r>
              <a:t>Smoke plan + filters</a:t>
            </a:r>
          </a:p>
          <a:p>
            <a:pPr>
              <a:defRPr sz="1600">
                <a:solidFill>
                  <a:srgbClr val="0C2140"/>
                </a:solidFill>
              </a:defRPr>
            </a:pPr>
            <a:r>
              <a:t>Defensible space</a:t>
            </a:r>
          </a:p>
          <a:p>
            <a:pPr>
              <a:defRPr sz="1600">
                <a:solidFill>
                  <a:srgbClr val="0C2140"/>
                </a:solidFill>
              </a:defRPr>
            </a:pPr>
            <a:r>
              <a:t>Ember-proofing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3931920"/>
            <a:ext cx="4069080" cy="2103120"/>
          </a:xfrm>
          <a:prstGeom prst="rect">
            <a:avLst/>
          </a:prstGeom>
          <a:solidFill>
            <a:srgbClr val="F5F7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4160520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Calibri"/>
              </a:rPr>
              <a:t>Drought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617720"/>
            <a:ext cx="3429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C2140"/>
                </a:solidFill>
              </a:defRPr>
            </a:pPr>
            <a:r>
              <a:t>Leak checks</a:t>
            </a:r>
          </a:p>
          <a:p>
            <a:pPr>
              <a:defRPr sz="1600">
                <a:solidFill>
                  <a:srgbClr val="0C2140"/>
                </a:solidFill>
              </a:defRPr>
            </a:pPr>
            <a:r>
              <a:t>Efficiency &amp; reuse</a:t>
            </a:r>
          </a:p>
          <a:p>
            <a:pPr>
              <a:defRPr sz="1600">
                <a:solidFill>
                  <a:srgbClr val="0C2140"/>
                </a:solidFill>
              </a:defRPr>
            </a:pPr>
            <a:r>
              <a:t>Storage + demand mgmt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577840"/>
            <a:ext cx="10728655" cy="777240"/>
          </a:xfrm>
          <a:prstGeom prst="rect">
            <a:avLst/>
          </a:prstGeom>
          <a:solidFill>
            <a:srgbClr val="EBF5F4"/>
          </a:solidFill>
          <a:ln>
            <a:solidFill>
              <a:srgbClr val="C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715000"/>
            <a:ext cx="101800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C2140"/>
                </a:solidFill>
              </a:defRPr>
            </a:pPr>
            <a:r>
              <a:t>Coastal storms: protect critical assets, plan for surge &amp; access disruptions, coordinate early warnings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C2140"/>
                </a:solidFill>
                <a:latin typeface="Calibri"/>
              </a:rPr>
              <a:t>Actions to take next (implementation)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Pilot with 1–3 municipalities / partners to validate local relevance</a:t>
            </a:r>
          </a:p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Refine the measures library with domain experts and user feedback</a:t>
            </a:r>
          </a:p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Produce a simple report: top risks, drivers, and the 3–5 highest-impact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C2140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Pilot access (municipalities, civil protection, SME networks)</a:t>
            </a:r>
          </a:p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Data + expertise for calibration and review</a:t>
            </a:r>
          </a:p>
          <a:p>
            <a:pPr>
              <a:spcAft>
                <a:spcPts val="800"/>
              </a:spcAft>
              <a:defRPr sz="2200">
                <a:solidFill>
                  <a:srgbClr val="0C2140"/>
                </a:solidFill>
              </a:defRPr>
            </a:pPr>
            <a:r>
              <a:t>Support to harden and deploy the tool at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